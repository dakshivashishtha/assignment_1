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2.26</c:v>
                </c:pt>
                <c:pt idx="1">
                  <c:v>2.68</c:v>
                </c:pt>
                <c:pt idx="2">
                  <c:v>3.41</c:v>
                </c:pt>
                <c:pt idx="3">
                  <c:v>4.3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Naive</c:v>
                  </c:pt>
                  <c:pt idx="1">
                    <c:v>Lin. Reg.</c:v>
                  </c:pt>
                  <c:pt idx="2">
                    <c:v>DT (raw)</c:v>
                  </c:pt>
                  <c:pt idx="3">
                    <c:v>RF (raw)</c:v>
                  </c:pt>
                  <c:pt idx="4">
                    <c:v>DT (ratio)</c:v>
                  </c:pt>
                  <c:pt idx="5">
                    <c:v>RF (ratio)</c:v>
                  </c:pt>
                  <c:pt idx="6">
                    <c:v>GB (ratio)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3180</c:v>
                </c:pt>
                <c:pt idx="1">
                  <c:v>2390</c:v>
                </c:pt>
                <c:pt idx="2">
                  <c:v>2565</c:v>
                </c:pt>
                <c:pt idx="3">
                  <c:v>2231</c:v>
                </c:pt>
                <c:pt idx="4">
                  <c:v>2485</c:v>
                </c:pt>
                <c:pt idx="5">
                  <c:v>2127</c:v>
                </c:pt>
                <c:pt idx="6">
                  <c:v>1987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Naive</c:v>
                  </c:pt>
                  <c:pt idx="1">
                    <c:v>Lin. Reg.</c:v>
                  </c:pt>
                  <c:pt idx="2">
                    <c:v>DT (raw)</c:v>
                  </c:pt>
                  <c:pt idx="3">
                    <c:v>RF (raw)</c:v>
                  </c:pt>
                  <c:pt idx="4">
                    <c:v>DT (ratio)</c:v>
                  </c:pt>
                  <c:pt idx="5">
                    <c:v>RF (ratio)</c:v>
                  </c:pt>
                  <c:pt idx="6">
                    <c:v>GB (ratio)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0.455</c:v>
                </c:pt>
                <c:pt idx="1">
                  <c:v>0.692</c:v>
                </c:pt>
                <c:pt idx="2">
                  <c:v>0.645</c:v>
                </c:pt>
                <c:pt idx="3">
                  <c:v>0.732</c:v>
                </c:pt>
                <c:pt idx="4">
                  <c:v>0.667</c:v>
                </c:pt>
                <c:pt idx="5">
                  <c:v>0.756</c:v>
                </c:pt>
                <c:pt idx="6">
                  <c:v>0.787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B1F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2473</c:v>
                </c:pt>
                <c:pt idx="1">
                  <c:v>1836</c:v>
                </c:pt>
                <c:pt idx="2">
                  <c:v>2028</c:v>
                </c:pt>
                <c:pt idx="3">
                  <c:v>1781</c:v>
                </c:pt>
                <c:pt idx="4">
                  <c:v>2157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2397</c:v>
                </c:pt>
                <c:pt idx="1">
                  <c:v>1708</c:v>
                </c:pt>
                <c:pt idx="2">
                  <c:v>1855</c:v>
                </c:pt>
                <c:pt idx="3">
                  <c:v>1745</c:v>
                </c:pt>
                <c:pt idx="4">
                  <c:v>2022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68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/ PREDICTIVE ANALYTICS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Prediction System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MDCORA Technologies Pvt. Ltd.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Businesses can't plan on guesswork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is generated every day — across products, markets, and time — but most businesses only look backward at it. The patterns inside that data (seasonality, pricing effects, discount behavior) can just as easily be used to look forward.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regression-based ML model that predicts monthly sales for a given product sub-category and market — then package it behind an interface a non-technical user can actually use.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the model considers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235915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Sub-Category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286207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0" y="2743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/ Region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336499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seasonality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386791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sales history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437083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487375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0" y="4754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level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years of real transactional sales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51,290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order-line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yrs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2011 – Dec 2014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sub-categories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worldwide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 Superstore dataset — a widely used public retail dataset for sales analytics and forecasting.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grew every year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429768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492240" y="393192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122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seasonality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45720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&amp; Dec are consistently the strongest months every year; Jan &amp; Feb the weakest. This pattern directly shaped a key feature in the model (slide 7).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READY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preparing the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20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 (~80% missing) dropped — unusable and unnecessary once Market/Region are used.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71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removed — none were found, confirming a clean source export.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57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conversion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233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/ Ship Date parsed explicitly as day-month-year to avoid silent misparsing.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0749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logical checks run (e.g. Sales ≤ 0, Discount outside 0–1) — all passed.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160020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21945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3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 lines flagged above the IQR threshold (Sales &gt; 581.50)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429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visualized, not removed — they represent genuine high-value sales, and monthly aggregation (used for modelling) naturally smooths their effect.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12280" y="4572000"/>
            <a:ext cx="448056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4754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&amp; low-signal columns dropped: Row ID, Order ID, Customer ID/Name, Product ID, City, State, Ship Mode, Order Priority, Shipping Cost.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 before modelling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Copiers, and Chairs lead total sales.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019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performers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14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Fasteners, and Envelopes trail furthest behind.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050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sales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17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(r = 0.81) between unit price and sales.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0050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sweet spot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617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 peaks at 1–20% discount ($339.60); heavy discounts (60%+) fall to $80.50.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line items to a forecasting 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aggregated to monthly totals per (Sub-Category × Market), reindexed against a complete calendar so every combination has one row per month — including zero-sales months.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Prev_Sales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00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month's sales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423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Avg_Prev_3/6/12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900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average sales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2423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Sales_LastYear_SameMonth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9900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month, one year ago — captures seasonality directly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Discount_Pct / Avg_Price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5445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pricing signal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9776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Quarter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5445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position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9776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7532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/ Market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445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identity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Key refinement: zero-sales months are now kept in training (with price/discount forward-filled), so the model also learns what low or zero demand looks like — not only months with a sale.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models, two target formulations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target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target  (sales ÷ 12-mo avg)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ratio (actual sales ÷ 12-month rolling average) keeps the target on a comparable scale across sub-categories of very different sizes — then it's converted back to a sales figure. A naive “last month repeats” baseline was included throughout, so every model had to earn its complexity.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chronologically: train 2011–2013  →  test 2014 (real forecasting simulation, not a random split)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wins on every metric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(lower is better)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5486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(higher is better)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874520"/>
          <a:ext cx="5486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4348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48640" y="4572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0.787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2014 test set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43400" y="44348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343400" y="4572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1,987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(vs 3,180 baseline)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44348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38160" y="4572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−37.5%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8138160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vs. naive baseline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model: Gradient Boosting Regressor, trained on the ratio target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one-year fluke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2014 hold-out is only one test. 5-fold rolling-origin cross-validation (TimeSeriesSplit) re-validates both leading models entirely within 2011–2013 — each fold trains on an earlier period and validates on the period right after it.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514600"/>
          <a:ext cx="7680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51460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35661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beat Random Forest in every single fold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4846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D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model choice holds across different time windows, not just one favorable year.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usable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</a:t>
            </a:r>
            <a:endParaRPr lang="en-US" sz="169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01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042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preprocessing → EDA → features → training → evaluation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9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01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3042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with joblib — ready to load and predict instantly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9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50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531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interface — pick a Sub-Category, Market &amp; month, get a prediction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069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9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050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4531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covering every phase, decision, and result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Forecasts at Sub-Category × Market level, not per-product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Trained on 2011–2014; unverified on demand shocks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~21% of monthly variance remains unexplained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Hyperparameters set from defaults, not exhaustive 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31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Systematic hyperparameter tuning (GridSearchCV)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108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Evaluate XGBoost / LightGBM alternatives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886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Add a long-term trend feature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663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Full interactive dashboard + FastAPI endpoint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System — MDCORA Technologies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pipeline — from raw data to a working prediction tool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Gradient Boosting model explains 78.7% of monthly sales variance, cuts forecast error by over a third versus a naive baseline, and was validated as robust across five independent time windows — not a result of one favorable test year. Combined with the Streamlit interface, it's a system a business user could realistically use for planning.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2026-09-21T07:14:57Z</dcterms:created>
  <dcterms:modified xsi:type="dcterms:W3CDTF">2026-09-21T07:14:57Z</dcterms:modified>
</cp:coreProperties>
</file>